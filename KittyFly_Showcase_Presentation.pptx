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5303520" cy="502920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PROJECT SHOWCASE</a:t>
            </a:r>
          </a:p>
          <a:p>
            <a:pPr>
              <a:spcBef>
                <a:spcPts val="800"/>
              </a:spcBef>
              <a:defRPr sz="4000" b="1">
                <a:solidFill>
                  <a:srgbClr val="F8FAFC"/>
                </a:solidFill>
              </a:defRPr>
            </a:pPr>
            <a:r>
              <a:t>KITTYFLY</a:t>
            </a:r>
          </a:p>
          <a:p>
            <a:pPr>
              <a:spcAft>
                <a:spcPts val="1400"/>
              </a:spcAft>
              <a:defRPr sz="2000">
                <a:solidFill>
                  <a:srgbClr val="3B82F6"/>
                </a:solidFill>
              </a:defRPr>
            </a:pPr>
            <a:r>
              <a:t>Odyssey Beyond Orbit</a:t>
            </a:r>
          </a:p>
          <a:p>
            <a:pPr>
              <a:spcAft>
                <a:spcPts val="2000"/>
              </a:spcAft>
              <a:defRPr sz="1300">
                <a:solidFill>
                  <a:srgbClr val="94A3B8"/>
                </a:solidFill>
              </a:defRPr>
            </a:pPr>
            <a:r>
              <a:t>A 2.5D Precision Physics Spacecraft Simulator featuring Newtonian flight mechanics, cybernetic UI, multi-stage hazard navigation, and cinematic visual effects.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• Engine: Unity 6 (6000.6.2f1) URP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Pipeline: Universal Render Pipeline (URP 17.6.0)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Architecture: Rigidbody 2.5D Physics + State Machine UI</a:t>
            </a:r>
          </a:p>
        </p:txBody>
      </p:sp>
      <p:pic>
        <p:nvPicPr>
          <p:cNvPr id="5" name="Picture 4" descr="scifi_menu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914400"/>
            <a:ext cx="5166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GAME VISION &amp;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Game Concept &amp; Mission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57200"/>
            <a:ext cx="685800" cy="32004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02/10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44200" cy="18288"/>
          </a:xfrm>
          <a:prstGeom prst="rect">
            <a:avLst/>
          </a:prstGeom>
          <a:solidFill>
            <a:srgbClr val="1C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01. HIGH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Inspired by classic Lunar Lander &amp; precision arcade simulators, KittyFly tests pilot dexterity across hostile alien sectors.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Newtonian Flight Physics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Zero-drag atmospheric inertia demands continuous micro-burst adjustments to avoid terminal velocity crashes.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Damage-Tolerant Hull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100 HP health system allows skilled players to absorb glancing impacts and repair through nano-pickup caches.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02. THE MISSION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STAGE 1: LAUNCH &amp; INGRESS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Undock from launchpad, fire primary thrusters to conquer local gravity pull.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STAGE 2: PRECISION VECTORING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Balance roll torque and burst throttle through tight sci-fi corridors.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STAGE 3: DYNAMIC HAZARDS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Time maneuvers past moving cranes, hydraulic crushers, and rotating plasma blades.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STAGE 4: EXTRACTION DOCKING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Touch down softly on the glowing target landing pad under safe velocity.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03. IN-GAME DEMONSTRATION</a:t>
            </a:r>
          </a:p>
        </p:txBody>
      </p:sp>
      <p:pic>
        <p:nvPicPr>
          <p:cNvPr id="15" name="Picture 14" descr="scifi_ui_hud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2103120"/>
            <a:ext cx="3108960" cy="2926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51206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Real-time 2.5D gameplay showing synchronized HUD telemetry, lighting, and gate navigation.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VEHICLE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Spacecraft Flight Mechanics &amp; Rigidbody Physics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57200"/>
            <a:ext cx="685800" cy="32004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03/10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44200" cy="18288"/>
          </a:xfrm>
          <a:prstGeom prst="rect">
            <a:avLst/>
          </a:prstGeom>
          <a:solidFill>
            <a:srgbClr val="1C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48640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FLIGHT DYNAMICS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• Kinematic 2.5D Constraints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Rigidbody with Z-position lock and X/Y rotation freeze. Prevents drifting off 2D gameplay plane while preserving full 3D lighting.</a:t>
            </a:r>
          </a:p>
          <a:p>
            <a:pPr>
              <a:defRPr sz="1200" b="1">
                <a:solidFill>
                  <a:srgbClr val="00F0FF"/>
                </a:solidFill>
              </a:defRPr>
            </a:pPr>
            <a:r>
              <a:t>• Newtonian Thrust Vectoring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Main Thrust: 1000 N force applied along transform.up vector via Rigidbody.AddRelativeForce().</a:t>
            </a:r>
          </a:p>
          <a:p>
            <a:pPr>
              <a:defRPr sz="1200" b="1">
                <a:solidFill>
                  <a:srgbClr val="00F0FF"/>
                </a:solidFill>
              </a:defRPr>
            </a:pPr>
            <a:r>
              <a:t>• Dual-Directional Torque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Rotation Speed: 100 deg/s with physics torque overrides for responsive steering without gimbal lock.</a:t>
            </a:r>
          </a:p>
          <a:p>
            <a:pPr>
              <a:defRPr sz="1200" b="1">
                <a:solidFill>
                  <a:srgbClr val="00F0FF"/>
                </a:solidFill>
              </a:defRPr>
            </a:pPr>
            <a:r>
              <a:t>• Fail-Safe Dual Input Architecture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Supports Unity Modern Input System actions with seamless fallback to legacy GetKey inputs for 100% hardware compatibility.</a:t>
            </a:r>
          </a:p>
          <a:p>
            <a:pPr>
              <a:defRPr sz="1200" b="1">
                <a:solidFill>
                  <a:srgbClr val="00F0FF"/>
                </a:solidFill>
              </a:defRPr>
            </a:pPr>
            <a:r>
              <a:t>• Kinematic Collision Protection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Detects safe pad landings vs. terrain impacts, checking contact normal and vertical touch speed.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463040"/>
            <a:ext cx="498348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00200"/>
            <a:ext cx="4709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TELEMETRY &amp; VECTOR DISPLAY</a:t>
            </a:r>
          </a:p>
        </p:txBody>
      </p:sp>
      <p:pic>
        <p:nvPicPr>
          <p:cNvPr id="12" name="Picture 11" descr="scifi_hud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11680"/>
            <a:ext cx="47091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VISUAL EFFECTS &amp; SHADERS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Multi-Layered Sci-Fi Thruster VFX &amp; Dynamic Lighting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57200"/>
            <a:ext cx="685800" cy="32004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04/10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44200" cy="18288"/>
          </a:xfrm>
          <a:prstGeom prst="rect">
            <a:avLst/>
          </a:prstGeom>
          <a:solidFill>
            <a:srgbClr val="1C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301752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MACRO PLASMA NOZZLE IGNITION</a:t>
            </a:r>
          </a:p>
        </p:txBody>
      </p:sp>
      <p:pic>
        <p:nvPicPr>
          <p:cNvPr id="9" name="Picture 8" descr="scifi_thruster_clos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4937760" cy="2423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463040"/>
            <a:ext cx="5212080" cy="301752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IN-FLIGHT ATMOSPHERIC EXHAUST TRAIL</a:t>
            </a:r>
          </a:p>
        </p:txBody>
      </p:sp>
      <p:pic>
        <p:nvPicPr>
          <p:cNvPr id="12" name="Picture 11" descr="scifi_thruster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4937760" cy="24231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0060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MULTI-EMITTER PARTICLE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F0FF"/>
                </a:solidFill>
              </a:defRPr>
            </a:pPr>
            <a:r>
              <a:t>1. Core Mach Plume: High-velocity compressed white/cyan ion stream with size-over-lifetime tapering.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2. Plasma Outer Envelope: Vibrant cyan (#00F0FF) glow cone delivering distinct sci-fi silhouette and volumetric presence.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3. Radiant Sparks &amp; Embers: Amber/gold micro-particles scattering downward with realistic gravity-assisted drift.</a:t>
            </a:r>
          </a:p>
          <a:p>
            <a:pPr>
              <a:defRPr sz="1100">
                <a:solidFill>
                  <a:srgbClr val="22C55E"/>
                </a:solidFill>
              </a:defRPr>
            </a:pPr>
            <a:r>
              <a:t>4. Dynamic Point Light: Synchronized real-time point light that dynamically illuminates ground terrain and canyon walls on burn.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USER INTERFACE &amp;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Cyberpunk Diegetic Cockpit HUD &amp;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57200"/>
            <a:ext cx="685800" cy="32004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05/10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44200" cy="18288"/>
          </a:xfrm>
          <a:prstGeom prst="rect">
            <a:avLst/>
          </a:prstGeom>
          <a:solidFill>
            <a:srgbClr val="1C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HUD ELEMENTS &amp; PILOT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• Tactical Frame &amp; Brackets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Cyber-cyan hex border overlay (#00F0FF) framing the camera viewport for an immersive cockpit feel.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• Live Velocity &amp; Altitude Readouts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Real-time telemetry measuring speed (m/s) and vertical elevation, warning pilots of high-speed descent rates.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• Dynamic Thruster Throttle Bar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Responsive fuel/burn gauge tracking active propellant burn rate in real time.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• Segmented Health Bar (100 HP)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Color-shifting life bar transitions from Cyber-Cyan (100-60 HP) to Warning Amber (59-30 HP) to Critical Red (&lt;30 HP).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• Holographic Damage Vignette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Procedural crimson screen vignette flashes dynamically upon terrain impact, scaling with damage severity.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120640" cy="228600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IN-FLIGHT HUD TELEMETRY</a:t>
            </a:r>
          </a:p>
        </p:txBody>
      </p:sp>
      <p:pic>
        <p:nvPicPr>
          <p:cNvPr id="12" name="Picture 11" descr="scifi_hud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28800"/>
            <a:ext cx="4846320" cy="17830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309360" y="3931920"/>
            <a:ext cx="5120640" cy="228600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69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MISSION FAILURE DEBRIEF TERMINAL</a:t>
            </a:r>
          </a:p>
        </p:txBody>
      </p:sp>
      <p:pic>
        <p:nvPicPr>
          <p:cNvPr id="15" name="Picture 14" descr="scifi_hud_cr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297680"/>
            <a:ext cx="484632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LEVEL DESIGN &amp;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Sector 01: Canyon Flight — Atmospheric Ingress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57200"/>
            <a:ext cx="685800" cy="32004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06/10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44200" cy="18288"/>
          </a:xfrm>
          <a:prstGeom prst="rect">
            <a:avLst/>
          </a:prstGeom>
          <a:solidFill>
            <a:srgbClr val="1C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94360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SECTOR 01: CANYON FLIGHT VIEW</a:t>
            </a:r>
          </a:p>
        </p:txBody>
      </p:sp>
      <p:pic>
        <p:nvPicPr>
          <p:cNvPr id="9" name="Picture 8" descr="level1_perfect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669280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49440" y="1463040"/>
            <a:ext cx="448056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6002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MISSION SPECIFICATIONS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11680"/>
            <a:ext cx="4114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► Environment Theme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High-altitude atmospheric canyon at twilight with deep cyan ambient fill and moody silhouettes.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► Gameplay Objective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Master pitch stabilization, low-gravity hover balance, and gentle deceleration curves.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► Key Architecture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Twin Cyber-Arch Transit Gates glowing with cyan warning markers directing flight traffic.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► Landing Zone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Elevated neon extraction pad with safe-touchdown velocity threshold sensors.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► Hazard Rating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Level 1: Low-moderate hazard density designed to establish foundational pilot muscle memory.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LEVEL DESIGN &amp;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Sector 02: Industrial Refinery — Moving Hazards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57200"/>
            <a:ext cx="685800" cy="32004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07/10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44200" cy="18288"/>
          </a:xfrm>
          <a:prstGeom prst="rect">
            <a:avLst/>
          </a:prstGeom>
          <a:solidFill>
            <a:srgbClr val="1C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94360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KINEMATIC CARGO CRANE OBSTACLE</a:t>
            </a:r>
          </a:p>
        </p:txBody>
      </p:sp>
      <p:pic>
        <p:nvPicPr>
          <p:cNvPr id="9" name="Picture 8" descr="level2_cran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669280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49440" y="1463040"/>
            <a:ext cx="448056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6002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SECTOR MECHANICS &amp; OBSTACLES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11680"/>
            <a:ext cx="4114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► Terrain Complexity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Asymmetric terrain wave geometry with narrow subterranean ceiling and restricted overhead clearance.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► Dynamic Cargo Crane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Kinematic industrial arm oscillating across flight lane via Mathf.PingPong() / Sinusoidal wave. Crushes careless ships.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► Nano-Repair Cache (+25 HP)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Glowing emerald repair pickup floating in the cavern; pilots can take calculated risks to recover hull integrity.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► Narrow Choke Points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Forces pilots to pause, hover mid-air, and time their forward burn between crane sweeps.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► Hazard Rating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Level 2: High spatial awareness required; combines moving obstacles with precision hovering.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LEVEL DESIGN &amp;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Sector 03: Orbital Defense Nexus — Gauntlet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57200"/>
            <a:ext cx="685800" cy="32004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08/10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44200" cy="18288"/>
          </a:xfrm>
          <a:prstGeom prst="rect">
            <a:avLst/>
          </a:prstGeom>
          <a:solidFill>
            <a:srgbClr val="1C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94360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360° ROTATING TURBINE &amp; PISTON GAUNTLET</a:t>
            </a:r>
          </a:p>
        </p:txBody>
      </p:sp>
      <p:pic>
        <p:nvPicPr>
          <p:cNvPr id="9" name="Picture 8" descr="level3_turbin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669280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49440" y="1463040"/>
            <a:ext cx="448056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6002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GAUNTLET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11680"/>
            <a:ext cx="4114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► Extreme Gauntlet Architecture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High-security orbital defense fortress featuring compound synchronized death-traps.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► Synchronized Piston Crushers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Twin hydraulic vertical pistons moving in counter-cycle; failing to time passage results in instant crushing.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► 360° Rotating Plasma Turbine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Continuous high-speed rotating quad-blade turbine centered in the main extraction shaft. Requires surgical trajectory alignment.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► Multi-Stage Nano Supplies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Strategic repair pickups distributed before the final orbital ascent shaft.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► Campaign Victory Extraction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Touching down triggers the Sector Victory screen, unlocking the complete campaign debrief.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USER EXPERIENCE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Sci-Fi Menu Suite &amp; 3D Interactive Diorama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57200"/>
            <a:ext cx="685800" cy="32004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09/10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44200" cy="18288"/>
          </a:xfrm>
          <a:prstGeom prst="rect">
            <a:avLst/>
          </a:prstGeom>
          <a:solidFill>
            <a:srgbClr val="1C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3D MAIN MENU DIORAMA</a:t>
            </a:r>
          </a:p>
        </p:txBody>
      </p:sp>
      <p:pic>
        <p:nvPicPr>
          <p:cNvPr id="9" name="Picture 8" descr="scifi_menu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310896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41148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Interactive 3D Stage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Features real-time floating spaceship with gentle idle levitation physics, glowing platform lights, and cyberdeck command button layout.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SECTOR ARCHIVE TERMINAL</a:t>
            </a:r>
          </a:p>
        </p:txBody>
      </p:sp>
      <p:pic>
        <p:nvPicPr>
          <p:cNvPr id="13" name="Picture 12" descr="scifi_menu_se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011680"/>
            <a:ext cx="3108960" cy="2011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6280" y="41148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Direct Mission Selection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Instant jump access to unlocked sectors with real-time sector clearance badges, environmental previews, and hazard level ratings.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FLIGHT MANUAL &amp; CALIBRATION</a:t>
            </a:r>
          </a:p>
        </p:txBody>
      </p:sp>
      <p:pic>
        <p:nvPicPr>
          <p:cNvPr id="17" name="Picture 16" descr="scifi_menu_man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2011680"/>
            <a:ext cx="3108960" cy="2011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83879" y="41148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In-Game Pilot Handbook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Diegetic pilot handbook detailing key bindings, thruster heat management, and customizable audio/sensitivity calibration options.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Architecture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57200"/>
            <a:ext cx="685800" cy="32004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10/10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44200" cy="18288"/>
          </a:xfrm>
          <a:prstGeom prst="rect">
            <a:avLst/>
          </a:prstGeom>
          <a:solidFill>
            <a:srgbClr val="1C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TECHNOLOGY STACK &amp;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• Unity 6 Engine &amp; URP Pipeline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Leverages Universal Render Pipeline with Forward+ rendering and optimized post-processing bloom stacks.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• Zero Garbage Collection Overhead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Cached component references in Awake() and pre-allocated physics calls ensure silky smooth 120+ FPS flight.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• Cinemachine Dynamic Camera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Smooth follow camera tracking ship vector with slight look-ahead damping for cinematic velocity perception.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• Modular Component Architecture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Separated Movement, Health, Oscillator, SciFiHUDController, and SciFiMenuController scripts.</a:t>
            </a:r>
          </a:p>
          <a:p>
            <a:pPr>
              <a:defRPr sz="1100" b="1">
                <a:solidFill>
                  <a:srgbClr val="00F0FF"/>
                </a:solidFill>
              </a:defRPr>
            </a:pPr>
            <a:r>
              <a:t>• Multi-Platform Ready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Decoupled input bindings and responsive Canvas scalers enable immediate porting to Mobile (iOS/Android) and Steam Deck.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166360" cy="4754880"/>
          </a:xfrm>
          <a:prstGeom prst="roundRect">
            <a:avLst/>
          </a:prstGeom>
          <a:solidFill>
            <a:srgbClr val="0D182A"/>
          </a:solidFill>
          <a:ln w="12700">
            <a:solidFill>
              <a:srgbClr val="1C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STRATEGIC PRODUCT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► Phase 1: Immersive Spatial Audio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Dynamic engine sound pitch modulation matching throttle intensity, atmospheric wind shear, and metallic landing thuds.</a:t>
            </a:r>
          </a:p>
          <a:p>
            <a:pPr>
              <a:defRPr sz="1100" b="1">
                <a:solidFill>
                  <a:srgbClr val="22C55E"/>
                </a:solidFill>
              </a:defRPr>
            </a:pPr>
            <a:r>
              <a:t>► Phase 2: Mobile Port &amp; Virtual Gyro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Dual on-screen thumbsticks with haptic vibration feedback for iOS/Android and Nintendo Switch touchscreens.</a:t>
            </a:r>
          </a:p>
          <a:p>
            <a:pPr>
              <a:defRPr sz="1100" b="1">
                <a:solidFill>
                  <a:srgbClr val="22C55E"/>
                </a:solidFill>
              </a:defRPr>
            </a:pPr>
            <a:r>
              <a:t>► Phase 3: Sector 04 &amp; 05 Expansion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Gravitational anomalies (Black Holes / Pulsar storms), laser tripwires, and anti-aircraft missile defense turrets.</a:t>
            </a:r>
          </a:p>
          <a:p>
            <a:pPr>
              <a:defRPr sz="1100" b="1">
                <a:solidFill>
                  <a:srgbClr val="22C55E"/>
                </a:solidFill>
              </a:defRPr>
            </a:pPr>
            <a:r>
              <a:t>► Phase 4: Global Leaderboards &amp; Ghost Racing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Asynchronous ghost recording system letting pilots compete worldwide for fastest clean-flight extraction times.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